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29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B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2"/>
        <p:guide pos="29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SwiftLog Logistics supply-chain analytics project. Explain that the presentation summarises a Power BI solution built to consolidate operational data and highlight areas for management investigation.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Recorded order-item revenue is approximately ₦21.67 million; revenue associated with non-cancelled orders is ₦14.44 million. The latter is not refund-adjusted accounting revenue.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There are 951 repeat customers among 1,000 customers, giving a repeat-customer rate of 95.10% in this dataset. This is not formal retention because no defined observation period or cohort analysis was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page compares stock distribution across locations and product categories. The 0.08 units-sold-to-stock ratio is descriptive</a:t>
            </a:r>
            <a:r>
              <a:rPr lang=""/>
              <a:t> not </a:t>
            </a:r>
            <a:r>
              <a:t>conventional inventory turnover.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Delivery status classifies 3,186 shipments as delayed (63.72%) and 1,814 as on time (36.28%). A separate count based on DelayDays &gt; 0 flags 4,000 shipments. Recommend reconciling definitions before operational targets are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Fashion shows approximately ₦5.4 million in revenue from non-cancelled orders, Food ₦4.7 million, and Electronics ₦4.3 million. The supplier table cannot be linked to products or shipments, so do not infer supplier-level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EB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DEB256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ANALYSTLAB AFRICA  |  WEEK 5 PROJECT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678815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rPr sz="4000">
                <a:latin typeface="Times New Roman" panose="02020603050405020304" charset="0"/>
                <a:cs typeface="Times New Roman" panose="02020603050405020304" charset="0"/>
              </a:rPr>
              <a:t>SWIFTLOG LOGISTICS</a:t>
            </a:r>
            <a:endParaRPr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243455"/>
            <a:ext cx="5273040" cy="3403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rPr sz="1800">
                <a:solidFill>
                  <a:srgbClr val="DEB256"/>
                </a:solidFill>
                <a:latin typeface="Times New Roman" panose="02020603050405020304" charset="0"/>
                <a:cs typeface="Times New Roman" panose="02020603050405020304" charset="0"/>
              </a:rPr>
              <a:t>Supply Chain Analytics &amp; Business Intelligence</a:t>
            </a:r>
            <a:endParaRPr sz="1800">
              <a:solidFill>
                <a:srgbClr val="DEB25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978408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D6E2F6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Executive presentation | Power BI dashboard and business insights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5303520"/>
            <a:ext cx="8229600" cy="6451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Prepared by: </a:t>
            </a:r>
            <a:r>
              <a:rPr lang="" sz="1600">
                <a:latin typeface="Times New Roman" panose="02020603050405020304" charset="0"/>
                <a:cs typeface="Times New Roman" panose="02020603050405020304" charset="0"/>
              </a:rPr>
              <a:t>Agu Precious Ayomide</a:t>
            </a:r>
            <a:endParaRPr lang="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Date: </a:t>
            </a:r>
            <a:r>
              <a:rPr lang="" sz="1600">
                <a:latin typeface="Times New Roman" panose="02020603050405020304" charset="0"/>
                <a:cs typeface="Times New Roman" panose="02020603050405020304" charset="0"/>
              </a:rPr>
              <a:t>October 2026</a:t>
            </a:r>
            <a:endParaRPr lang="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0" y="5394959"/>
            <a:ext cx="256032" cy="640080"/>
          </a:xfrm>
          <a:prstGeom prst="rect">
            <a:avLst/>
          </a:prstGeom>
          <a:solidFill>
            <a:srgbClr val="41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732520" y="4983479"/>
            <a:ext cx="256032" cy="1051560"/>
          </a:xfrm>
          <a:prstGeom prst="rect">
            <a:avLst/>
          </a:prstGeom>
          <a:solidFill>
            <a:srgbClr val="388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235440" y="4434840"/>
            <a:ext cx="256032" cy="1600200"/>
          </a:xfrm>
          <a:prstGeom prst="rect">
            <a:avLst/>
          </a:prstGeom>
          <a:solidFill>
            <a:srgbClr val="DEB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38360" y="5029200"/>
            <a:ext cx="256032" cy="1005840"/>
          </a:xfrm>
          <a:prstGeom prst="rect">
            <a:avLst/>
          </a:prstGeom>
          <a:solidFill>
            <a:srgbClr val="41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241280" y="3977639"/>
            <a:ext cx="256032" cy="2057400"/>
          </a:xfrm>
          <a:prstGeom prst="rect">
            <a:avLst/>
          </a:prstGeom>
          <a:solidFill>
            <a:srgbClr val="388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744200" y="4663440"/>
            <a:ext cx="256032" cy="1371600"/>
          </a:xfrm>
          <a:prstGeom prst="rect">
            <a:avLst/>
          </a:prstGeom>
          <a:solidFill>
            <a:srgbClr val="DEB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06424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Business Challenge &amp; Project Objectives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32004"/>
          </a:xfrm>
          <a:prstGeom prst="rect">
            <a:avLst/>
          </a:prstGeom>
          <a:solidFill>
            <a:srgbClr val="DEB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84280" y="6620256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50292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4167B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THE BUSINESS NEED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2522855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buClrTx/>
              <a:buSzTx/>
              <a:buFontTx/>
              <a:defRPr sz="2200" b="1">
                <a:solidFill>
                  <a:srgbClr val="142242"/>
                </a:solidFill>
                <a:latin typeface="Aptos"/>
              </a:defRPr>
            </a:pPr>
            <a:r>
              <a:rPr lang="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he business problem: orders are cancelled, deliveries are late, and returns cost money.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2200" b="1">
                <a:solidFill>
                  <a:srgbClr val="142242"/>
                </a:solidFill>
                <a:latin typeface="Aptos"/>
              </a:defRPr>
            </a:pPr>
            <a:r>
              <a:rPr lang="">
                <a:latin typeface="Times New Roman" panose="02020603050405020304" charset="0"/>
                <a:cs typeface="Times New Roman" panose="02020603050405020304" charset="0"/>
              </a:rPr>
              <a:t>The goal is to b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ring operational information into one view so leaders can monitor performance and investigate emerging issues.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26480" y="1051560"/>
            <a:ext cx="50292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4167B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PROJECT OBJECTIVES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640080" y="4983480"/>
            <a:ext cx="1920240" cy="1005840"/>
          </a:xfrm>
          <a:prstGeom prst="rect">
            <a:avLst/>
          </a:prstGeom>
          <a:solidFill>
            <a:srgbClr val="FFFDF7"/>
          </a:solidFill>
          <a:ln w="9525">
            <a:solidFill>
              <a:srgbClr val="E3DCC8"/>
            </a:solidFill>
            <a:prstDash val="solid"/>
          </a:ln>
        </p:spPr>
      </p:sp>
      <p:sp>
        <p:nvSpPr>
          <p:cNvPr id="25" name="Shape 3"/>
          <p:cNvSpPr/>
          <p:nvPr/>
        </p:nvSpPr>
        <p:spPr>
          <a:xfrm>
            <a:off x="640080" y="4983480"/>
            <a:ext cx="73025" cy="100584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841248" y="5367528"/>
            <a:ext cx="2157984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167B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5,000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1248" y="5074920"/>
            <a:ext cx="2157984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ORDERS ANALYSED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5979795" y="4937760"/>
            <a:ext cx="1920240" cy="1005840"/>
          </a:xfrm>
          <a:prstGeom prst="rect">
            <a:avLst/>
          </a:prstGeom>
          <a:solidFill>
            <a:srgbClr val="FFFDF7"/>
          </a:solidFill>
          <a:ln w="9525">
            <a:solidFill>
              <a:srgbClr val="E3DCC8"/>
            </a:solidFill>
            <a:prstDash val="solid"/>
          </a:ln>
        </p:spPr>
      </p:sp>
      <p:sp>
        <p:nvSpPr>
          <p:cNvPr id="28" name="Shape 3"/>
          <p:cNvSpPr/>
          <p:nvPr/>
        </p:nvSpPr>
        <p:spPr>
          <a:xfrm>
            <a:off x="5979795" y="4937760"/>
            <a:ext cx="73025" cy="100584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30" name="Shape 2"/>
          <p:cNvSpPr/>
          <p:nvPr/>
        </p:nvSpPr>
        <p:spPr>
          <a:xfrm>
            <a:off x="3529330" y="4983480"/>
            <a:ext cx="1920240" cy="1005840"/>
          </a:xfrm>
          <a:prstGeom prst="rect">
            <a:avLst/>
          </a:prstGeom>
          <a:solidFill>
            <a:srgbClr val="FFFDF7"/>
          </a:solidFill>
          <a:ln w="9525">
            <a:solidFill>
              <a:srgbClr val="E3DCC8"/>
            </a:solidFill>
            <a:prstDash val="solid"/>
          </a:ln>
        </p:spPr>
      </p:sp>
      <p:sp>
        <p:nvSpPr>
          <p:cNvPr id="31" name="Shape 3"/>
          <p:cNvSpPr/>
          <p:nvPr/>
        </p:nvSpPr>
        <p:spPr>
          <a:xfrm>
            <a:off x="3529330" y="4983480"/>
            <a:ext cx="73025" cy="100584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3584448" y="5074920"/>
            <a:ext cx="2157984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CUSTOMERS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84448" y="5367528"/>
            <a:ext cx="2157984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388F9D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1,000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7648" y="5074920"/>
            <a:ext cx="2157984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PRODUCTS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27648" y="5367528"/>
            <a:ext cx="2157984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167B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250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9033510" y="4983480"/>
            <a:ext cx="1920240" cy="1005840"/>
          </a:xfrm>
          <a:prstGeom prst="rect">
            <a:avLst/>
          </a:prstGeom>
          <a:solidFill>
            <a:srgbClr val="FFFDF7"/>
          </a:solidFill>
          <a:ln w="9525">
            <a:solidFill>
              <a:srgbClr val="E3DCC8"/>
            </a:solidFill>
            <a:prstDash val="solid"/>
          </a:ln>
        </p:spPr>
      </p:sp>
      <p:sp>
        <p:nvSpPr>
          <p:cNvPr id="34" name="Shape 3"/>
          <p:cNvSpPr/>
          <p:nvPr/>
        </p:nvSpPr>
        <p:spPr>
          <a:xfrm>
            <a:off x="9033510" y="4983480"/>
            <a:ext cx="73025" cy="100584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21" name="TextBox 20"/>
          <p:cNvSpPr txBox="1"/>
          <p:nvPr/>
        </p:nvSpPr>
        <p:spPr>
          <a:xfrm>
            <a:off x="9070848" y="5074920"/>
            <a:ext cx="2157984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WAREHOUSES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70848" y="5367528"/>
            <a:ext cx="2157984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388F9D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15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5821045" y="1422400"/>
            <a:ext cx="5755640" cy="2950845"/>
            <a:chOff x="864" y="1771"/>
            <a:chExt cx="12744" cy="4997"/>
          </a:xfrm>
        </p:grpSpPr>
        <p:sp>
          <p:nvSpPr>
            <p:cNvPr id="36" name="Shape 2"/>
            <p:cNvSpPr/>
            <p:nvPr/>
          </p:nvSpPr>
          <p:spPr>
            <a:xfrm>
              <a:off x="864" y="1800"/>
              <a:ext cx="864" cy="864"/>
            </a:xfrm>
            <a:prstGeom prst="ellipse">
              <a:avLst/>
            </a:prstGeom>
            <a:solidFill>
              <a:srgbClr val="C98F1E"/>
            </a:solidFill>
            <a:ln w="12700">
              <a:solidFill>
                <a:srgbClr val="C98F1E"/>
              </a:solidFill>
              <a:prstDash val="solid"/>
            </a:ln>
          </p:spPr>
        </p:sp>
        <p:sp>
          <p:nvSpPr>
            <p:cNvPr id="37" name="Text 3"/>
            <p:cNvSpPr txBox="1"/>
            <p:nvPr/>
          </p:nvSpPr>
          <p:spPr>
            <a:xfrm>
              <a:off x="864" y="1800"/>
              <a:ext cx="864" cy="86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 marL="0" indent="0" algn="ctr">
                <a:buNone/>
              </a:pPr>
              <a:r>
                <a:rPr lang="en-US" sz="1800" b="1" dirty="0">
                  <a:solidFill>
                    <a:srgbClr val="FFFDF7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1</a:t>
              </a:r>
              <a:endParaRPr lang="en-US" sz="1800" b="1" dirty="0">
                <a:solidFill>
                  <a:srgbClr val="FFFD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38" name="Text 4"/>
            <p:cNvSpPr txBox="1"/>
            <p:nvPr/>
          </p:nvSpPr>
          <p:spPr>
            <a:xfrm>
              <a:off x="2088" y="1771"/>
              <a:ext cx="11520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 marL="0" indent="0">
                <a:buNone/>
              </a:pPr>
              <a:r>
                <a:rPr lang="en-US" sz="1700" b="1" dirty="0">
                  <a:solidFill>
                    <a:srgbClr val="1E4D3B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Prepare the data</a:t>
              </a:r>
              <a:endParaRPr lang="en-US" sz="1700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39" name="Text 5"/>
            <p:cNvSpPr txBox="1"/>
            <p:nvPr/>
          </p:nvSpPr>
          <p:spPr>
            <a:xfrm>
              <a:off x="2088" y="2232"/>
              <a:ext cx="11520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 marL="0" indent="0">
                <a:buNone/>
              </a:pPr>
              <a:r>
                <a:rPr lang="en-US" sz="13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Clean and join 11 tables into one reliable model</a:t>
              </a:r>
              <a:endParaRPr lang="en-US" sz="13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40" name="Shape 6"/>
            <p:cNvSpPr/>
            <p:nvPr/>
          </p:nvSpPr>
          <p:spPr>
            <a:xfrm>
              <a:off x="864" y="3168"/>
              <a:ext cx="864" cy="864"/>
            </a:xfrm>
            <a:prstGeom prst="ellipse">
              <a:avLst/>
            </a:prstGeom>
            <a:solidFill>
              <a:srgbClr val="C98F1E"/>
            </a:solidFill>
            <a:ln w="12700">
              <a:solidFill>
                <a:srgbClr val="C98F1E"/>
              </a:solidFill>
              <a:prstDash val="solid"/>
            </a:ln>
          </p:spPr>
        </p:sp>
        <p:sp>
          <p:nvSpPr>
            <p:cNvPr id="41" name="Text 7"/>
            <p:cNvSpPr txBox="1"/>
            <p:nvPr/>
          </p:nvSpPr>
          <p:spPr>
            <a:xfrm>
              <a:off x="864" y="3168"/>
              <a:ext cx="864" cy="86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 marL="0" indent="0" algn="ctr">
                <a:buNone/>
              </a:pPr>
              <a:r>
                <a:rPr lang="en-US" sz="1800" b="1" dirty="0">
                  <a:solidFill>
                    <a:srgbClr val="FFFDF7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2</a:t>
              </a:r>
              <a:endParaRPr lang="en-US" sz="1800" b="1" dirty="0">
                <a:solidFill>
                  <a:srgbClr val="FFFD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42" name="Text 8"/>
            <p:cNvSpPr txBox="1"/>
            <p:nvPr/>
          </p:nvSpPr>
          <p:spPr>
            <a:xfrm>
              <a:off x="2088" y="3139"/>
              <a:ext cx="11520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 marL="0" indent="0">
                <a:buNone/>
              </a:pPr>
              <a:r>
                <a:rPr lang="en-US" sz="1700" b="1" dirty="0">
                  <a:solidFill>
                    <a:srgbClr val="1E4D3B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Measure performance</a:t>
              </a:r>
              <a:endParaRPr lang="en-US" sz="1700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43" name="Text 9"/>
            <p:cNvSpPr txBox="1"/>
            <p:nvPr/>
          </p:nvSpPr>
          <p:spPr>
            <a:xfrm>
              <a:off x="2088" y="3600"/>
              <a:ext cx="11520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 marL="0" indent="0">
                <a:buNone/>
              </a:pPr>
              <a:r>
                <a:rPr lang="en-US" sz="13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Build KPIs for revenue, customers, stock, delivery and returns</a:t>
              </a:r>
              <a:endParaRPr lang="en-US" sz="13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44" name="Shape 10"/>
            <p:cNvSpPr/>
            <p:nvPr/>
          </p:nvSpPr>
          <p:spPr>
            <a:xfrm>
              <a:off x="864" y="4536"/>
              <a:ext cx="864" cy="864"/>
            </a:xfrm>
            <a:prstGeom prst="ellipse">
              <a:avLst/>
            </a:prstGeom>
            <a:solidFill>
              <a:srgbClr val="C98F1E"/>
            </a:solidFill>
            <a:ln w="12700">
              <a:solidFill>
                <a:srgbClr val="C98F1E"/>
              </a:solidFill>
              <a:prstDash val="solid"/>
            </a:ln>
          </p:spPr>
        </p:sp>
        <p:sp>
          <p:nvSpPr>
            <p:cNvPr id="45" name="Text 11"/>
            <p:cNvSpPr txBox="1"/>
            <p:nvPr/>
          </p:nvSpPr>
          <p:spPr>
            <a:xfrm>
              <a:off x="864" y="4536"/>
              <a:ext cx="864" cy="86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 marL="0" indent="0" algn="ctr">
                <a:buNone/>
              </a:pPr>
              <a:r>
                <a:rPr lang="en-US" sz="1800" b="1" dirty="0">
                  <a:solidFill>
                    <a:srgbClr val="FFFDF7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3</a:t>
              </a:r>
              <a:endParaRPr lang="en-US" sz="1800" b="1" dirty="0">
                <a:solidFill>
                  <a:srgbClr val="FFFD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46" name="Text 12"/>
            <p:cNvSpPr txBox="1"/>
            <p:nvPr/>
          </p:nvSpPr>
          <p:spPr>
            <a:xfrm>
              <a:off x="2088" y="4507"/>
              <a:ext cx="11520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 marL="0" indent="0">
                <a:buNone/>
              </a:pPr>
              <a:r>
                <a:rPr lang="en-US" sz="1700" b="1" dirty="0">
                  <a:solidFill>
                    <a:srgbClr val="1E4D3B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Explain the results</a:t>
              </a:r>
              <a:endParaRPr lang="en-US" sz="1700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47" name="Text 13"/>
            <p:cNvSpPr txBox="1"/>
            <p:nvPr/>
          </p:nvSpPr>
          <p:spPr>
            <a:xfrm>
              <a:off x="2088" y="4968"/>
              <a:ext cx="11520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 marL="0" indent="0">
                <a:buNone/>
              </a:pPr>
              <a:r>
                <a:rPr lang="en-US" sz="13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Show what drives cancellations, delays and returns</a:t>
              </a:r>
              <a:endParaRPr lang="en-US" sz="13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48" name="Shape 14"/>
            <p:cNvSpPr/>
            <p:nvPr/>
          </p:nvSpPr>
          <p:spPr>
            <a:xfrm>
              <a:off x="864" y="5904"/>
              <a:ext cx="864" cy="864"/>
            </a:xfrm>
            <a:prstGeom prst="ellipse">
              <a:avLst/>
            </a:prstGeom>
            <a:solidFill>
              <a:srgbClr val="C98F1E"/>
            </a:solidFill>
            <a:ln w="12700">
              <a:solidFill>
                <a:srgbClr val="C98F1E"/>
              </a:solidFill>
              <a:prstDash val="solid"/>
            </a:ln>
          </p:spPr>
        </p:sp>
        <p:sp>
          <p:nvSpPr>
            <p:cNvPr id="49" name="Text 15"/>
            <p:cNvSpPr txBox="1"/>
            <p:nvPr/>
          </p:nvSpPr>
          <p:spPr>
            <a:xfrm>
              <a:off x="864" y="5904"/>
              <a:ext cx="864" cy="86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 marL="0" indent="0" algn="ctr">
                <a:buNone/>
              </a:pPr>
              <a:r>
                <a:rPr lang="en-US" sz="1800" b="1" dirty="0">
                  <a:solidFill>
                    <a:srgbClr val="FFFDF7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4</a:t>
              </a:r>
              <a:endParaRPr lang="en-US" sz="1800" b="1" dirty="0">
                <a:solidFill>
                  <a:srgbClr val="FFFD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50" name="Text 16"/>
            <p:cNvSpPr txBox="1"/>
            <p:nvPr/>
          </p:nvSpPr>
          <p:spPr>
            <a:xfrm>
              <a:off x="2088" y="5875"/>
              <a:ext cx="11520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 marL="0" indent="0">
                <a:buNone/>
              </a:pPr>
              <a:r>
                <a:rPr lang="en-US" sz="1700" b="1" dirty="0">
                  <a:solidFill>
                    <a:srgbClr val="1E4D3B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Recommend action</a:t>
              </a:r>
              <a:endParaRPr lang="en-US" sz="1700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51" name="Text 17"/>
            <p:cNvSpPr txBox="1"/>
            <p:nvPr/>
          </p:nvSpPr>
          <p:spPr>
            <a:xfrm>
              <a:off x="2088" y="6336"/>
              <a:ext cx="11520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 marL="0" indent="0">
                <a:buNone/>
              </a:pPr>
              <a:r>
                <a:rPr sz="13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Translate findings into practical business recommendations.</a:t>
              </a:r>
              <a:endParaRPr sz="13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  <a:p>
              <a:pPr marL="0" indent="0">
                <a:buNone/>
              </a:pPr>
              <a:r>
                <a:rPr lang="en-US" sz="13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Give management clear, measurable next steps</a:t>
              </a:r>
              <a:endParaRPr lang="en-US" sz="13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06424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Data Preparation &amp; Analytical Method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32004"/>
          </a:xfrm>
          <a:prstGeom prst="rect">
            <a:avLst/>
          </a:prstGeom>
          <a:solidFill>
            <a:srgbClr val="DEB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84280" y="6620256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3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33271" y="1325880"/>
            <a:ext cx="685800" cy="685800"/>
          </a:xfrm>
          <a:prstGeom prst="ellipse">
            <a:avLst/>
          </a:prstGeom>
          <a:solidFill>
            <a:srgbClr val="41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33271" y="1536192"/>
            <a:ext cx="68580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01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178308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2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SOURCE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1874519" cy="553085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11 operational datasets</a:t>
            </a:r>
            <a:r>
              <a:rPr lang="">
                <a:latin typeface="Times New Roman" panose="02020603050405020304" charset="0"/>
                <a:cs typeface="Times New Roman" panose="02020603050405020304" charset="0"/>
              </a:rPr>
              <a:t>,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spcAft>
                <a:spcPts val="700"/>
              </a:spcAft>
              <a:defRPr sz="13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plus a data dictionary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764792" y="1636776"/>
            <a:ext cx="1078992" cy="32004"/>
          </a:xfrm>
          <a:prstGeom prst="rect">
            <a:avLst/>
          </a:prstGeom>
          <a:solidFill>
            <a:srgbClr val="D6E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392424" y="1325880"/>
            <a:ext cx="685800" cy="685800"/>
          </a:xfrm>
          <a:prstGeom prst="ellipse">
            <a:avLst/>
          </a:prstGeom>
          <a:solidFill>
            <a:srgbClr val="388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92424" y="1536192"/>
            <a:ext cx="68580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02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62072" y="2240280"/>
            <a:ext cx="178308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2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PREPARE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16352" y="2697480"/>
            <a:ext cx="1874519" cy="663575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Review data types,</a:t>
            </a:r>
            <a:r>
              <a:rPr lang="">
                <a:latin typeface="Times New Roman" panose="02020603050405020304" charset="0"/>
                <a:cs typeface="Times New Roman" panose="02020603050405020304" charset="0"/>
              </a:rPr>
              <a:t> c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ompleteness and consistency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123944" y="1636776"/>
            <a:ext cx="1078992" cy="32004"/>
          </a:xfrm>
          <a:prstGeom prst="rect">
            <a:avLst/>
          </a:prstGeom>
          <a:solidFill>
            <a:srgbClr val="D6E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751576" y="1325880"/>
            <a:ext cx="685800" cy="685800"/>
          </a:xfrm>
          <a:prstGeom prst="ellipse">
            <a:avLst/>
          </a:prstGeom>
          <a:solidFill>
            <a:srgbClr val="41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51576" y="1536192"/>
            <a:ext cx="68580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03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21224" y="2240280"/>
            <a:ext cx="178308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2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MODEL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75504" y="2697480"/>
            <a:ext cx="1874519" cy="663575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Build relationships between</a:t>
            </a:r>
            <a:r>
              <a:rPr lang="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related business tables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83096" y="1636776"/>
            <a:ext cx="1078992" cy="32004"/>
          </a:xfrm>
          <a:prstGeom prst="rect">
            <a:avLst/>
          </a:prstGeom>
          <a:solidFill>
            <a:srgbClr val="D6E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110728" y="1325880"/>
            <a:ext cx="685800" cy="685800"/>
          </a:xfrm>
          <a:prstGeom prst="ellipse">
            <a:avLst/>
          </a:prstGeom>
          <a:solidFill>
            <a:srgbClr val="388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10728" y="1536192"/>
            <a:ext cx="68580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04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80376" y="2240280"/>
            <a:ext cx="178308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2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MEASURE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34656" y="2697480"/>
            <a:ext cx="1874519" cy="663575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Create DAX KPIs for revenue,</a:t>
            </a:r>
            <a:r>
              <a:rPr lang="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orders, delivery and stock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842248" y="1636776"/>
            <a:ext cx="1078992" cy="32004"/>
          </a:xfrm>
          <a:prstGeom prst="rect">
            <a:avLst/>
          </a:prstGeom>
          <a:solidFill>
            <a:srgbClr val="D6E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0469880" y="1325880"/>
            <a:ext cx="685800" cy="685800"/>
          </a:xfrm>
          <a:prstGeom prst="ellipse">
            <a:avLst/>
          </a:prstGeom>
          <a:solidFill>
            <a:srgbClr val="41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469880" y="1536192"/>
            <a:ext cx="685800" cy="20116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05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39528" y="2240280"/>
            <a:ext cx="178308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2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VISUALISE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893808" y="2697480"/>
            <a:ext cx="1874519" cy="46355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Develop five Power BI</a:t>
            </a:r>
            <a:r>
              <a:rPr lang="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dashboard pages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1520" y="4892040"/>
            <a:ext cx="10698480" cy="6172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buClrTx/>
              <a:buSzTx/>
              <a:buFontTx/>
              <a:defRPr sz="2700" b="1">
                <a:solidFill>
                  <a:srgbClr val="FFFFFF"/>
                </a:solidFill>
                <a:latin typeface="Aptos"/>
              </a:defRPr>
            </a:pPr>
            <a:r>
              <a:rPr sz="1800">
                <a:solidFill>
                  <a:srgbClr val="DEB256"/>
                </a:solidFill>
                <a:latin typeface="Times New Roman" panose="02020603050405020304" charset="0"/>
                <a:cs typeface="Times New Roman" panose="02020603050405020304" charset="0"/>
              </a:rPr>
              <a:t>Scope: descriptive insights and management recommendations; causal explanations require further investigation.</a:t>
            </a:r>
            <a:endParaRPr sz="1800">
              <a:solidFill>
                <a:srgbClr val="DEB256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568" y="365920"/>
            <a:ext cx="10972229" cy="8533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65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The dashboard has five pages plus drill-through</a:t>
            </a:r>
            <a:endParaRPr lang="en-US" sz="3465" b="1" dirty="0">
              <a:solidFill>
                <a:srgbClr val="1E4D3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09568" y="61135"/>
            <a:ext cx="10972229" cy="3047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8F1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DASHBOARD DEMONSTRATION</a:t>
            </a:r>
            <a:endParaRPr lang="en-US" sz="1200" b="1" kern="0" spc="100" dirty="0">
              <a:solidFill>
                <a:srgbClr val="C98F1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568" y="1402186"/>
            <a:ext cx="10972229" cy="670525"/>
          </a:xfrm>
          <a:prstGeom prst="rect">
            <a:avLst/>
          </a:prstGeom>
          <a:solidFill>
            <a:srgbClr val="FFFDF7"/>
          </a:solidFill>
          <a:ln w="9525">
            <a:solidFill>
              <a:srgbClr val="E3DC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3396" y="1402186"/>
            <a:ext cx="3657410" cy="67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5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Executive Overview</a:t>
            </a:r>
            <a:endParaRPr lang="en-US" sz="1865" b="1" dirty="0">
              <a:solidFill>
                <a:srgbClr val="1E4D3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632719" y="1402186"/>
            <a:ext cx="6705251" cy="67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Revenue, orders, delivery and returns with status and location filters</a:t>
            </a:r>
            <a:endParaRPr lang="en-US" sz="1600" dirty="0">
              <a:solidFill>
                <a:srgbClr val="2B2B2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568" y="2206816"/>
            <a:ext cx="10972229" cy="670525"/>
          </a:xfrm>
          <a:prstGeom prst="rect">
            <a:avLst/>
          </a:prstGeom>
          <a:solidFill>
            <a:srgbClr val="FFFDF7"/>
          </a:solidFill>
          <a:ln w="9525">
            <a:solidFill>
              <a:srgbClr val="E3DC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3396" y="2206816"/>
            <a:ext cx="3657410" cy="67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5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Customer Analytics</a:t>
            </a:r>
            <a:endParaRPr lang="en-US" sz="1865" b="1" dirty="0">
              <a:solidFill>
                <a:srgbClr val="1E4D3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632719" y="2206816"/>
            <a:ext cx="6705251" cy="67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Top customers, retention, order frequency and city comparison</a:t>
            </a:r>
            <a:endParaRPr lang="en-US" sz="1600" dirty="0">
              <a:solidFill>
                <a:srgbClr val="2B2B2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568" y="3011446"/>
            <a:ext cx="10972229" cy="670525"/>
          </a:xfrm>
          <a:prstGeom prst="rect">
            <a:avLst/>
          </a:prstGeom>
          <a:solidFill>
            <a:srgbClr val="FFFDF7"/>
          </a:solidFill>
          <a:ln w="9525">
            <a:solidFill>
              <a:srgbClr val="E3DC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3396" y="3011446"/>
            <a:ext cx="3657410" cy="67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5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Inventory &amp; Warehouse</a:t>
            </a:r>
            <a:endParaRPr lang="en-US" sz="1865" b="1" dirty="0">
              <a:solidFill>
                <a:srgbClr val="1E4D3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632719" y="3011446"/>
            <a:ext cx="6705251" cy="67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Stock levels, stock share by warehouse, units sold to stock</a:t>
            </a:r>
            <a:endParaRPr lang="en-US" sz="1600" dirty="0">
              <a:solidFill>
                <a:srgbClr val="2B2B2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568" y="3816076"/>
            <a:ext cx="10972229" cy="670525"/>
          </a:xfrm>
          <a:prstGeom prst="rect">
            <a:avLst/>
          </a:prstGeom>
          <a:solidFill>
            <a:srgbClr val="FFFDF7"/>
          </a:solidFill>
          <a:ln w="9525">
            <a:solidFill>
              <a:srgbClr val="E3DC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3396" y="3816076"/>
            <a:ext cx="3657410" cy="67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5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Shipment &amp; Delivery</a:t>
            </a:r>
            <a:endParaRPr lang="en-US" sz="1865" b="1" dirty="0">
              <a:solidFill>
                <a:srgbClr val="1E4D3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632719" y="3816076"/>
            <a:ext cx="6705251" cy="67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Delivery status, delays by location, monthly shipment trend</a:t>
            </a:r>
            <a:endParaRPr lang="en-US" sz="1600" dirty="0">
              <a:solidFill>
                <a:srgbClr val="2B2B2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568" y="4620706"/>
            <a:ext cx="10972229" cy="670525"/>
          </a:xfrm>
          <a:prstGeom prst="rect">
            <a:avLst/>
          </a:prstGeom>
          <a:solidFill>
            <a:srgbClr val="FFFDF7"/>
          </a:solidFill>
          <a:ln w="9525">
            <a:solidFill>
              <a:srgbClr val="E3DCC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3396" y="4620706"/>
            <a:ext cx="3657410" cy="67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5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Supplier &amp; Product</a:t>
            </a:r>
            <a:endParaRPr lang="en-US" sz="1865" b="1" dirty="0">
              <a:solidFill>
                <a:srgbClr val="1E4D3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632719" y="4620706"/>
            <a:ext cx="6705251" cy="67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Revenue and returns by product, category and cancellations</a:t>
            </a:r>
            <a:endParaRPr lang="en-US" sz="1600" dirty="0">
              <a:solidFill>
                <a:srgbClr val="2B2B2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09568" y="5486293"/>
            <a:ext cx="10972229" cy="609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EB25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Also included: drill-through to Customer Detail, bookmarks for each status, tooltips by warehouse, and a delay-threshold What-If parameter.</a:t>
            </a:r>
            <a:endParaRPr lang="en-US" sz="1600" i="1" dirty="0">
              <a:solidFill>
                <a:srgbClr val="DEB25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06424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Executive Overview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32004"/>
          </a:xfrm>
          <a:prstGeom prst="rect">
            <a:avLst/>
          </a:prstGeom>
          <a:solidFill>
            <a:srgbClr val="DEB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84280" y="6620256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4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70916" y="900684"/>
            <a:ext cx="7059168" cy="5230368"/>
          </a:xfrm>
          <a:prstGeom prst="roundRect">
            <a:avLst/>
          </a:prstGeom>
          <a:solidFill>
            <a:srgbClr val="FFFFFF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18120" y="1024128"/>
            <a:ext cx="3657600" cy="2926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4167B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AT A GLANCE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818120" y="1444752"/>
            <a:ext cx="1645920" cy="96012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1536192"/>
            <a:ext cx="1426464" cy="20193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 lang="">
                <a:latin typeface="Times New Roman" panose="02020603050405020304" charset="0"/>
                <a:cs typeface="Times New Roman" panose="02020603050405020304" charset="0"/>
              </a:rPr>
              <a:t>GROSS 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REVENUE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27848" y="1828800"/>
            <a:ext cx="1426464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167B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₦21.67M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646920" y="1444752"/>
            <a:ext cx="1645920" cy="96012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56648" y="1536192"/>
            <a:ext cx="1426464" cy="3403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NON-CANCELLED</a:t>
            </a:r>
            <a:r>
              <a:rPr lang="">
                <a:latin typeface="Times New Roman" panose="02020603050405020304" charset="0"/>
                <a:cs typeface="Times New Roman" panose="02020603050405020304" charset="0"/>
              </a:rPr>
              <a:t> REVENUE</a:t>
            </a:r>
            <a:endParaRPr lang="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756648" y="1828800"/>
            <a:ext cx="1426464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388F9D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₦14.44M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818120" y="2651760"/>
            <a:ext cx="1645920" cy="96012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27848" y="2743200"/>
            <a:ext cx="1426464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CANCELLATION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27848" y="3035808"/>
            <a:ext cx="1426464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B44A53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32.52%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646920" y="2651760"/>
            <a:ext cx="1645920" cy="96012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56648" y="2743200"/>
            <a:ext cx="1426464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ORDER RETURNS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756648" y="3035808"/>
            <a:ext cx="1426464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B44A53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9.02%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63840" y="3977639"/>
            <a:ext cx="3383280" cy="11887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Management focus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5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Cancellations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5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Delivery reliability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5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Returns and data quality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63840" y="5394960"/>
            <a:ext cx="3383280" cy="5943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Revenue figures are order-item calculations, not profit or cash received.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4" name="Picture 23" descr="Pag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" y="746760"/>
            <a:ext cx="7514590" cy="60382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06424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Customer Analytics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32004"/>
          </a:xfrm>
          <a:prstGeom prst="rect">
            <a:avLst/>
          </a:prstGeom>
          <a:solidFill>
            <a:srgbClr val="DEB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84280" y="6620256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5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70916" y="900684"/>
            <a:ext cx="7059168" cy="5230368"/>
          </a:xfrm>
          <a:prstGeom prst="roundRect">
            <a:avLst/>
          </a:prstGeom>
          <a:solidFill>
            <a:srgbClr val="FFFFFF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18120" y="1024128"/>
            <a:ext cx="3657600" cy="2926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4167B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WHAT THE DATA SHOWS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818120" y="1444752"/>
            <a:ext cx="1645920" cy="96012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1536192"/>
            <a:ext cx="1426464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CUSTOMERS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27848" y="1828800"/>
            <a:ext cx="1426464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167B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1,000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646920" y="1444752"/>
            <a:ext cx="1645920" cy="96012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56648" y="1536192"/>
            <a:ext cx="1426464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REPEAT CUSTOMERS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756648" y="1828800"/>
            <a:ext cx="1426464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388F9D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951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818120" y="2651760"/>
            <a:ext cx="3474720" cy="91440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27848" y="2743200"/>
            <a:ext cx="3255263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REPEAT-CUSTOMER RATE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27848" y="3035808"/>
            <a:ext cx="3255263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167B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95.10%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63840" y="3840480"/>
            <a:ext cx="3474720" cy="14097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Management focus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spcAft>
                <a:spcPts val="700"/>
              </a:spcAft>
              <a:buFont typeface="Arial" panose="020B0604020202020204" pitchFamily="34" charset="0"/>
              <a:buChar char="•"/>
              <a:defRPr sz="14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Compare activity by city.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4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 Explore order frequency and revenue contribution.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4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 Use patterns to guide engagement initiatives.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0" name="Picture 19" descr="Pag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5" y="657860"/>
            <a:ext cx="7506970" cy="62001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06424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Inventory &amp; Warehouse Analytics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32004"/>
          </a:xfrm>
          <a:prstGeom prst="rect">
            <a:avLst/>
          </a:prstGeom>
          <a:solidFill>
            <a:srgbClr val="DEB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84280" y="6620256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6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70916" y="900684"/>
            <a:ext cx="7059168" cy="5230368"/>
          </a:xfrm>
          <a:prstGeom prst="roundRect">
            <a:avLst/>
          </a:prstGeom>
          <a:solidFill>
            <a:srgbClr val="FFFFFF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18120" y="1024128"/>
            <a:ext cx="3657600" cy="2926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4167B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OPERATIONAL QUESTIONS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818120" y="1444752"/>
            <a:ext cx="1645920" cy="96012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1536192"/>
            <a:ext cx="1426464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WAREHOUSES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27848" y="1828800"/>
            <a:ext cx="1426464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167B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15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646920" y="1444752"/>
            <a:ext cx="1645920" cy="96012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56648" y="1536192"/>
            <a:ext cx="1426464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PRODUCTS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756648" y="1828800"/>
            <a:ext cx="1426464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388F9D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250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818120" y="2651760"/>
            <a:ext cx="3474720" cy="91440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27848" y="2743200"/>
            <a:ext cx="3255263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UNITS SOLD-TO-STOCK RATIO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27848" y="3035808"/>
            <a:ext cx="3255263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167B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0.08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63840" y="3840480"/>
            <a:ext cx="3474720" cy="14097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Management focus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spcAft>
                <a:spcPts val="700"/>
              </a:spcAft>
              <a:buFont typeface="Arial" panose="020B0604020202020204" pitchFamily="34" charset="0"/>
              <a:buChar char="•"/>
              <a:defRPr sz="1400" b="0">
                <a:solidFill>
                  <a:srgbClr val="263042"/>
                </a:solidFill>
                <a:latin typeface="Aptos"/>
              </a:defRPr>
            </a:pPr>
            <a:r>
              <a:rPr lang=""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eview stock distribution by location.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4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 Investigate low-stock records.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4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 Set replenishment thresholds using validated demand.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63840" y="5532120"/>
            <a:ext cx="347472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Descriptive ratio, not conventional inventory turnover.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1" name="Picture 20" descr="P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305" y="688340"/>
            <a:ext cx="7662545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06424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Shipment &amp; Delivery Performance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32004"/>
          </a:xfrm>
          <a:prstGeom prst="rect">
            <a:avLst/>
          </a:prstGeom>
          <a:solidFill>
            <a:srgbClr val="DEB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84280" y="6620256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7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70916" y="900684"/>
            <a:ext cx="7059168" cy="5230368"/>
          </a:xfrm>
          <a:prstGeom prst="roundRect">
            <a:avLst/>
          </a:prstGeom>
          <a:solidFill>
            <a:srgbClr val="FFFFFF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18120" y="1024128"/>
            <a:ext cx="3657600" cy="2926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4167B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DELIVERY SNAPSHOT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818120" y="1444752"/>
            <a:ext cx="1645920" cy="96012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1536192"/>
            <a:ext cx="1426464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SHIPMENTS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27848" y="1828800"/>
            <a:ext cx="1426464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167B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5,000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646920" y="1444752"/>
            <a:ext cx="1645920" cy="96012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56648" y="1536192"/>
            <a:ext cx="1426464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AVERAGE DELAY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756648" y="1828800"/>
            <a:ext cx="1426464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388F9D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3.57 days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818120" y="2651760"/>
            <a:ext cx="1645920" cy="96012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27848" y="2743200"/>
            <a:ext cx="1426464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STATUS DELAYED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27848" y="3035808"/>
            <a:ext cx="1426464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B44A53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63.72%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646920" y="2651760"/>
            <a:ext cx="1645920" cy="96012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56648" y="2743200"/>
            <a:ext cx="1426464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ON TIME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756648" y="3035808"/>
            <a:ext cx="1426464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167B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36.28%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63840" y="3931920"/>
            <a:ext cx="3429000" cy="709295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DelayDays flags 4,000 shipments with positive delay, while status classification shows 3,186 delayed.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3" name="Picture 22" descr="Pag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0" y="676910"/>
            <a:ext cx="7480300" cy="61290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06424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Supplier &amp; Product Analytics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32004"/>
          </a:xfrm>
          <a:prstGeom prst="rect">
            <a:avLst/>
          </a:prstGeom>
          <a:solidFill>
            <a:srgbClr val="DEB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84280" y="6620256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8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70916" y="900684"/>
            <a:ext cx="7059168" cy="5230368"/>
          </a:xfrm>
          <a:prstGeom prst="roundRect">
            <a:avLst/>
          </a:prstGeom>
          <a:solidFill>
            <a:srgbClr val="FFFFFF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18120" y="1024128"/>
            <a:ext cx="3657600" cy="2926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4167B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PRODUCT PERFORMANCE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818120" y="1444752"/>
            <a:ext cx="1645920" cy="96012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1536192"/>
            <a:ext cx="1426464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PRODUCTS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27848" y="1828800"/>
            <a:ext cx="1426464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167B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250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646920" y="1444752"/>
            <a:ext cx="1645920" cy="96012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56648" y="1536192"/>
            <a:ext cx="1426464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SUPPLIERS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756648" y="1828800"/>
            <a:ext cx="1426464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388F9D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150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63840" y="2697480"/>
            <a:ext cx="347472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1422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Revenue by category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818120" y="3090672"/>
            <a:ext cx="1051560" cy="96012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27848" y="3182112"/>
            <a:ext cx="832103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FASHION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27975" y="3474720"/>
            <a:ext cx="953135" cy="3860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167B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₦5.4M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979535" y="3090545"/>
            <a:ext cx="1183640" cy="96012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89136" y="3182112"/>
            <a:ext cx="832103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FOOD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89390" y="3474720"/>
            <a:ext cx="1027430" cy="3860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388F9D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₦4.7M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336530" y="3094990"/>
            <a:ext cx="1254125" cy="96012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402570" y="3227070"/>
            <a:ext cx="1071245" cy="20193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ELECTRONICS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00995" y="3474720"/>
            <a:ext cx="974725" cy="3860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167B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₦4.3M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63840" y="4389120"/>
            <a:ext cx="3383280" cy="11430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Supplier performance is unavailable because supplier data cannot currently be linked to products or shipments.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7" name="Picture 26" descr="Pag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" y="693420"/>
            <a:ext cx="7753985" cy="60915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06424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Key Business Findings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32004"/>
          </a:xfrm>
          <a:prstGeom prst="rect">
            <a:avLst/>
          </a:prstGeom>
          <a:solidFill>
            <a:srgbClr val="DEB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84280" y="6620256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9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1078992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1422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Three signals deserve management attention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383280" cy="186690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1783080"/>
            <a:ext cx="3163824" cy="24765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 sz="1200">
                <a:latin typeface="Times New Roman" panose="02020603050405020304" charset="0"/>
                <a:cs typeface="Times New Roman" panose="02020603050405020304" charset="0"/>
              </a:rPr>
              <a:t>CANCELLATION RATE</a:t>
            </a:r>
            <a:endParaRPr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883" y="1965833"/>
            <a:ext cx="3163824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B44A53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32.52%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2010" y="2404745"/>
            <a:ext cx="3338195" cy="103759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B2B2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Cancelled orders represent about a third of gross revenue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B2B2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Shipments exist for 1,626 cancelled and 1,716 pending orders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B2B2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Dispatch may be starting before orders are confirmed</a:t>
            </a:r>
            <a:endParaRPr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07535" y="1691640"/>
            <a:ext cx="3383280" cy="186690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17136" y="1783080"/>
            <a:ext cx="3163824" cy="24765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 sz="1200">
                <a:latin typeface="Times New Roman" panose="02020603050405020304" charset="0"/>
                <a:cs typeface="Times New Roman" panose="02020603050405020304" charset="0"/>
              </a:rPr>
              <a:t>STATUS-CLASSIFIED DELAYS</a:t>
            </a:r>
            <a:endParaRPr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17136" y="1943608"/>
            <a:ext cx="3163824" cy="43891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B44A53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63.72%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17136" y="2404745"/>
            <a:ext cx="3163824" cy="98679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B2B2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Average delay is 3.57 days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B2B2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Delayed rate is 62 to 64% in all three locations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B2B2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The gap between locations is about two points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B2B2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The problem is network-wide, not one site</a:t>
            </a:r>
            <a:endParaRPr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83550" y="1691640"/>
            <a:ext cx="3383280" cy="1866900"/>
          </a:xfrm>
          <a:prstGeom prst="roundRect">
            <a:avLst/>
          </a:prstGeom>
          <a:solidFill>
            <a:srgbClr val="EFF4FC"/>
          </a:solidFill>
          <a:ln>
            <a:solidFill>
              <a:srgbClr val="D6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93023" y="1783080"/>
            <a:ext cx="3163824" cy="24765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7184"/>
                </a:solidFill>
                <a:latin typeface="Aptos"/>
              </a:defRPr>
            </a:pPr>
            <a:r>
              <a:rPr sz="1200">
                <a:latin typeface="Times New Roman" panose="02020603050405020304" charset="0"/>
                <a:cs typeface="Times New Roman" panose="02020603050405020304" charset="0"/>
              </a:rPr>
              <a:t>ORDER RETURN RATE</a:t>
            </a:r>
            <a:endParaRPr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43823" y="1943608"/>
            <a:ext cx="3163824" cy="3860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388F9D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9.</a:t>
            </a:r>
            <a:r>
              <a:rPr lang="">
                <a:latin typeface="Times New Roman" panose="02020603050405020304" charset="0"/>
                <a:cs typeface="Times New Roman" panose="02020603050405020304" charset="0"/>
              </a:rPr>
              <a:t>46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%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43823" y="2510790"/>
            <a:ext cx="3163824" cy="883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B2B2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Late delivery is 37% of 500 return records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B2B2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Wrong item and damaged goods make up most of the rest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B2B2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Return rate is 9.46% of orders</a:t>
            </a:r>
            <a:endParaRPr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50292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4167B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ADDITIONAL INSIGHTS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4317365"/>
            <a:ext cx="5029200" cy="2172335"/>
          </a:xfrm>
          <a:prstGeom prst="rect">
            <a:avLst/>
          </a:prstGeom>
          <a:noFill/>
        </p:spPr>
        <p:txBody>
          <a:bodyPr wrap="square" lIns="54864" tIns="36576" rIns="54864" bIns="27432">
            <a:no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 951 customers are classified as repeat customers.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spcAft>
                <a:spcPts val="700"/>
              </a:spcAft>
              <a:buFont typeface="Arial" panose="020B0604020202020204" pitchFamily="34" charset="0"/>
              <a:buChar char="•"/>
              <a:defRPr sz="1600" b="0">
                <a:solidFill>
                  <a:srgbClr val="263042"/>
                </a:solidFill>
                <a:latin typeface="Aptos"/>
              </a:defRPr>
            </a:pPr>
            <a:r>
              <a:rPr lang="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ugust is the peak: 654 orders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buClrTx/>
              <a:buSzTx/>
              <a:buNone/>
              <a:defRPr sz="16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 Fashion has the highest revenue among the three displayed categories</a:t>
            </a:r>
            <a:r>
              <a:rPr lang="">
                <a:latin typeface="Times New Roman" panose="02020603050405020304" charset="0"/>
                <a:cs typeface="Times New Roman" panose="02020603050405020304" charset="0"/>
              </a:rPr>
              <a:t> with </a:t>
            </a: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NGN 5.41 million net revenue</a:t>
            </a:r>
            <a:endParaRPr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indent="-285750" algn="l">
              <a:spcAft>
                <a:spcPts val="700"/>
              </a:spcAft>
              <a:buClrTx/>
              <a:buSzTx/>
              <a:buFont typeface="Arial" panose="020B0604020202020204" pitchFamily="34" charset="0"/>
              <a:buChar char="•"/>
              <a:defRPr sz="16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Product return rates vary: P032 is highest at 21.28%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600" b="0">
                <a:solidFill>
                  <a:srgbClr val="263042"/>
                </a:solidFill>
                <a:latin typeface="Aptos"/>
              </a:defRPr>
            </a:pP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600" b="0">
                <a:solidFill>
                  <a:srgbClr val="263042"/>
                </a:solidFill>
                <a:latin typeface="Aptos"/>
              </a:defRPr>
            </a:pPr>
            <a:endParaRPr lang="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63640" y="3931920"/>
            <a:ext cx="4937760" cy="263525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4167B2"/>
                </a:solidFill>
                <a:latin typeface="Aptos"/>
              </a:defRPr>
            </a:pPr>
            <a:r>
              <a:rPr lang="">
                <a:latin typeface="Times New Roman" panose="02020603050405020304" charset="0"/>
                <a:cs typeface="Times New Roman" panose="02020603050405020304" charset="0"/>
              </a:rPr>
              <a:t>TO NOTE;</a:t>
            </a:r>
            <a:endParaRPr lang="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63640" y="4322445"/>
            <a:ext cx="4937760" cy="1417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 September covers only 1–8 September in the order data.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6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 Observed patterns do not establish causes by themselves.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06424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Strategic Recommendations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32004"/>
          </a:xfrm>
          <a:prstGeom prst="rect">
            <a:avLst/>
          </a:prstGeom>
          <a:solidFill>
            <a:srgbClr val="DEB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84280" y="6620256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10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685800" y="1069848"/>
            <a:ext cx="502920" cy="502920"/>
          </a:xfrm>
          <a:prstGeom prst="ellipse">
            <a:avLst/>
          </a:prstGeom>
          <a:solidFill>
            <a:srgbClr val="41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207008"/>
            <a:ext cx="50292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01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44168" y="1024128"/>
            <a:ext cx="4663440" cy="2926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422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Investigate cancellations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44168" y="1389888"/>
            <a:ext cx="4663440" cy="796925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042"/>
                </a:solidFill>
                <a:latin typeface="Aptos"/>
              </a:defRPr>
            </a:pPr>
            <a:r>
              <a:rPr lang="" altLang="en-US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</a:t>
            </a:r>
            <a:r>
              <a:rPr lang="en-US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egment by month, customer, location and available order attributes.</a:t>
            </a:r>
            <a:endParaRPr lang="en-US" b="1" dirty="0">
              <a:solidFill>
                <a:srgbClr val="1E4D3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200" b="0">
                <a:solidFill>
                  <a:srgbClr val="263042"/>
                </a:solidFill>
                <a:latin typeface="Aptos"/>
              </a:defRPr>
            </a:pPr>
            <a:r>
              <a:rPr lang="en-US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Cut cancellations through a pre-confirmation check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200" b="0">
                <a:solidFill>
                  <a:srgbClr val="263042"/>
                </a:solidFill>
                <a:latin typeface="Aptos"/>
              </a:defRPr>
            </a:pPr>
            <a:endParaRPr lang="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355080" y="1069848"/>
            <a:ext cx="502920" cy="502920"/>
          </a:xfrm>
          <a:prstGeom prst="ellipse">
            <a:avLst/>
          </a:prstGeom>
          <a:solidFill>
            <a:srgbClr val="388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5080" y="1207008"/>
            <a:ext cx="50292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02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13448" y="1024128"/>
            <a:ext cx="4663440" cy="2926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422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Improve delivery monitoring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13448" y="1389888"/>
            <a:ext cx="4663440" cy="796925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042"/>
                </a:solidFill>
                <a:latin typeface="Aptos"/>
              </a:defRPr>
            </a:pPr>
            <a:r>
              <a:rPr lang="" altLang="en-US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</a:t>
            </a:r>
            <a:r>
              <a:rPr lang="en-US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eview location-level performance and recurring delay patterns.</a:t>
            </a:r>
            <a:endParaRPr lang="en-US" b="1" dirty="0">
              <a:solidFill>
                <a:srgbClr val="1E4D3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200" b="0">
                <a:solidFill>
                  <a:srgbClr val="263042"/>
                </a:solidFill>
                <a:latin typeface="Aptos"/>
              </a:defRPr>
            </a:pPr>
            <a:r>
              <a:rPr lang="en-US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Link suppliers to products and shipments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200" b="0">
                <a:solidFill>
                  <a:srgbClr val="263042"/>
                </a:solidFill>
                <a:latin typeface="Aptos"/>
              </a:defRPr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85800" y="2606039"/>
            <a:ext cx="502920" cy="502920"/>
          </a:xfrm>
          <a:prstGeom prst="ellipse">
            <a:avLst/>
          </a:prstGeom>
          <a:solidFill>
            <a:srgbClr val="41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2743200"/>
            <a:ext cx="50292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03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44168" y="2560320"/>
            <a:ext cx="4663440" cy="2926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422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Reduce avoidable returns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44168" y="2926079"/>
            <a:ext cx="4663440" cy="796925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042"/>
                </a:solidFill>
                <a:latin typeface="Aptos"/>
              </a:defRPr>
            </a:pPr>
            <a:r>
              <a:rPr lang="" altLang="en-US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</a:t>
            </a:r>
            <a:r>
              <a:rPr lang="en-US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nvestigate late delivery, wrong-item and damaged-item reasons.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200" b="0">
                <a:solidFill>
                  <a:srgbClr val="263042"/>
                </a:solidFill>
                <a:latin typeface="Aptos"/>
              </a:defRPr>
            </a:pPr>
            <a:r>
              <a:rPr lang="en-US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Fix late delivery, the largest return cause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200" b="0">
                <a:solidFill>
                  <a:srgbClr val="263042"/>
                </a:solidFill>
                <a:latin typeface="Aptos"/>
              </a:defRPr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355080" y="2606039"/>
            <a:ext cx="502920" cy="502920"/>
          </a:xfrm>
          <a:prstGeom prst="ellipse">
            <a:avLst/>
          </a:prstGeom>
          <a:solidFill>
            <a:srgbClr val="388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55080" y="2743200"/>
            <a:ext cx="50292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04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13448" y="2560320"/>
            <a:ext cx="4663440" cy="2926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422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Strengthen inventory decisions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13448" y="2926079"/>
            <a:ext cx="4663440" cy="98171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042"/>
                </a:solidFill>
                <a:latin typeface="Aptos"/>
              </a:defRPr>
            </a:pPr>
            <a:r>
              <a:rPr lang="" altLang="en-US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</a:t>
            </a:r>
            <a:r>
              <a:rPr lang="en-US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eview stock distribution and set demand-informed replenishment thresholds.</a:t>
            </a:r>
            <a:endParaRPr lang="en-US" b="1" dirty="0">
              <a:solidFill>
                <a:srgbClr val="1E4D3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200" b="0">
                <a:solidFill>
                  <a:srgbClr val="263042"/>
                </a:solidFill>
                <a:latin typeface="Aptos"/>
              </a:defRPr>
            </a:pPr>
            <a:r>
              <a:rPr lang="en-US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Reduce stock that is not selling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200" b="0">
                <a:solidFill>
                  <a:srgbClr val="263042"/>
                </a:solidFill>
                <a:latin typeface="Aptos"/>
              </a:defRPr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85800" y="4142232"/>
            <a:ext cx="502920" cy="502920"/>
          </a:xfrm>
          <a:prstGeom prst="ellipse">
            <a:avLst/>
          </a:prstGeom>
          <a:solidFill>
            <a:srgbClr val="41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4279392"/>
            <a:ext cx="50292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05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44168" y="4096512"/>
            <a:ext cx="4663440" cy="2926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422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Deepen customer insight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44168" y="4462272"/>
            <a:ext cx="4663440" cy="24765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042"/>
                </a:solidFill>
                <a:latin typeface="Aptos"/>
              </a:defRPr>
            </a:pPr>
            <a:r>
              <a:rPr lang="" altLang="en-US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</a:t>
            </a:r>
            <a:r>
              <a:rPr lang="en-US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nalyse purchase frequency and revenue contribution.</a:t>
            </a:r>
            <a:endParaRPr lang="en-US" b="1" dirty="0">
              <a:solidFill>
                <a:srgbClr val="1E4D3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6355080" y="4142232"/>
            <a:ext cx="502920" cy="502920"/>
          </a:xfrm>
          <a:prstGeom prst="ellipse">
            <a:avLst/>
          </a:prstGeom>
          <a:solidFill>
            <a:srgbClr val="388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55080" y="4279392"/>
            <a:ext cx="50292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06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13448" y="4096512"/>
            <a:ext cx="4663440" cy="2926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422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Improve data governance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13448" y="4462272"/>
            <a:ext cx="4663440" cy="24765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263042"/>
                </a:solidFill>
                <a:latin typeface="Aptos"/>
              </a:defRPr>
            </a:pPr>
            <a:r>
              <a:rPr lang="" altLang="en-US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</a:t>
            </a:r>
            <a:r>
              <a:rPr lang="en-US" b="1" dirty="0">
                <a:solidFill>
                  <a:srgbClr val="1E4D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econcile delayed-shipment definitions and document KPI formulas.</a:t>
            </a:r>
            <a:endParaRPr lang="en-US" b="1" dirty="0">
              <a:solidFill>
                <a:srgbClr val="1E4D3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064240" cy="411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Data Limitations &amp; Next Steps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32004"/>
          </a:xfrm>
          <a:prstGeom prst="rect">
            <a:avLst/>
          </a:prstGeom>
          <a:solidFill>
            <a:srgbClr val="DEB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84280" y="6620256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11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512064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B44A53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LIMITATIONS TO COMMUNICATE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5074920" cy="33832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 September order data is incomplete (1–8 September).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5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 DelayDays and delivery-status measures produce different delayed counts.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5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 Supplier data cannot currently be linked to products or shipments.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5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 Revenue measures do not establish profit, cash received or refund-adjusted revenue.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63640" y="1005840"/>
            <a:ext cx="512064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388F9D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RECOMMENDED NEXT STEPS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63640" y="1463040"/>
            <a:ext cx="5120640" cy="33832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 Compare equivalent date ranges and confirm table coverage.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5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 Agree on one operational definition of a delayed shipment.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5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 Create validated supplier-product linkages.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1500" b="0">
                <a:solidFill>
                  <a:srgbClr val="2630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 Assign owners to priority KPIs and review them regularly.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5257800"/>
            <a:ext cx="1042416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4224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Reliable decisions depend on consistent definitions, complete data and transparent assumptions.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EB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DEB256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241280" cy="9144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From operational data to clearer decisions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2244090"/>
            <a:ext cx="9966960" cy="24612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F6F1E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Revenue is healthy and spread across customers and products.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F6F1E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The biggest losses come from cancellations and delivery failures, and they are linked to returns.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F6F1E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The first step is to confirm orders before dispatch, then fix delivery timing.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2000" b="0">
                <a:solidFill>
                  <a:srgbClr val="D6E2F6"/>
                </a:solidFill>
                <a:latin typeface="Aptos"/>
              </a:defRPr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700"/>
              </a:spcAft>
              <a:defRPr sz="2000" b="0">
                <a:solidFill>
                  <a:srgbClr val="D6E2F6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The five Power BI dashboard pages provide a consolidated view of SwiftLog’s customers, orders, inventory, deliveries, products and returns.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3760" y="4967605"/>
            <a:ext cx="9733280" cy="678815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rPr lang="" altLang="en-US" sz="2000" dirty="0">
                <a:solidFill>
                  <a:srgbClr val="F6F1E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</a:t>
            </a:r>
            <a:r>
              <a:rPr lang="en-US" sz="2000" dirty="0">
                <a:solidFill>
                  <a:srgbClr val="F6F1E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he next opportunity is to validate key measures, a</a:t>
            </a:r>
            <a:r>
              <a:rPr lang="en-US" sz="2000" dirty="0">
                <a:solidFill>
                  <a:srgbClr val="F6F1E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dd a supplier key, </a:t>
            </a:r>
            <a:r>
              <a:rPr lang="en-US" sz="2000" dirty="0">
                <a:solidFill>
                  <a:srgbClr val="F6F1E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investigate the strongest signals and track improvements using consistent reporting periods.</a:t>
            </a:r>
            <a:endParaRPr lang="en-US" sz="2000" dirty="0">
              <a:solidFill>
                <a:srgbClr val="F6F1E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9601200" cy="3403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DEB256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r>
              <a:rPr lang="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32004"/>
          </a:xfrm>
          <a:prstGeom prst="rect">
            <a:avLst/>
          </a:prstGeom>
          <a:solidFill>
            <a:srgbClr val="DEB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384280" y="6620256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184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12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6202</Words>
  <Application>WPS Presentation</Application>
  <PresentationFormat>On-screen Show (4:3)</PresentationFormat>
  <Paragraphs>386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2" baseType="lpstr">
      <vt:lpstr>Arial</vt:lpstr>
      <vt:lpstr>SimSun</vt:lpstr>
      <vt:lpstr>Wingdings</vt:lpstr>
      <vt:lpstr>Arial</vt:lpstr>
      <vt:lpstr>Aptos</vt:lpstr>
      <vt:lpstr>Segoe Print</vt:lpstr>
      <vt:lpstr>Calibri</vt:lpstr>
      <vt:lpstr>Microsoft YaHei</vt:lpstr>
      <vt:lpstr>Arial Unicode MS</vt:lpstr>
      <vt:lpstr>Calibri</vt:lpstr>
      <vt:lpstr>Calibri</vt:lpstr>
      <vt:lpstr>Times New Roman</vt:lpstr>
      <vt:lpstr>Garamond</vt:lpstr>
      <vt:lpstr>Tw Cen MT Condensed Extra Bold</vt:lpstr>
      <vt:lpstr>Algerian</vt:lpstr>
      <vt:lpstr>Tw Cen MT Condensed</vt:lpstr>
      <vt:lpstr>Bahnschrift Light</vt:lpstr>
      <vt:lpstr>Bahnschrift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Precious Adeyemo</cp:lastModifiedBy>
  <cp:revision>24</cp:revision>
  <dcterms:created xsi:type="dcterms:W3CDTF">2013-01-27T09:14:00Z</dcterms:created>
  <dcterms:modified xsi:type="dcterms:W3CDTF">2026-10-21T15:10:49Z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3F579DDEFB744646957237A157086723_13</vt:lpwstr>
  </property>
  <property fmtid="{D5CDD505-2E9C-101B-9397-08002B2CF9AE}" pid="3" name="KSOProductBuildVer">
    <vt:lpwstr>1033-12.2.0.13489</vt:lpwstr>
  </property>
</Properties>
</file>